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5200000" cy="3600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00000" y="540000"/>
            <a:ext cx="23400000" cy="2700000"/>
          </a:xfrm>
          <a:prstGeom prst="rect">
            <a:avLst/>
          </a:prstGeom>
          <a:noFill/>
        </p:spPr>
        <p:txBody>
          <a:bodyPr wrap="square" anchor="ctr">
            <a:spAutoFit/>
          </a:bodyPr>
          <a:lstStyle/>
          <a:p>
            <a:pPr algn="ctr"/>
            <a:r>
              <a:rPr sz="7000" b="1" i="0">
                <a:solidFill>
                  <a:srgbClr val="1F3A5F"/>
                </a:solidFill>
                <a:latin typeface="Times New Roman"/>
              </a:rPr>
              <a:t>Çelik Bobin Depo Yerleşiminde Rehandling ve Vinç Mesafesi Optimizasyonu</a:t>
            </a:r>
          </a:p>
        </p:txBody>
      </p:sp>
      <p:sp>
        <p:nvSpPr>
          <p:cNvPr id="3" name="TextBox 2"/>
          <p:cNvSpPr txBox="1"/>
          <p:nvPr/>
        </p:nvSpPr>
        <p:spPr>
          <a:xfrm>
            <a:off x="900000" y="3420000"/>
            <a:ext cx="23400000" cy="1620000"/>
          </a:xfrm>
          <a:prstGeom prst="rect">
            <a:avLst/>
          </a:prstGeom>
          <a:noFill/>
        </p:spPr>
        <p:txBody>
          <a:bodyPr wrap="square" anchor="t">
            <a:spAutoFit/>
          </a:bodyPr>
          <a:lstStyle/>
          <a:p>
            <a:pPr algn="ctr"/>
            <a:r>
              <a:rPr sz="2400" b="0" i="0">
                <a:solidFill>
                  <a:srgbClr val="555555"/>
                </a:solidFill>
                <a:latin typeface="Times New Roman"/>
              </a:rPr>
              <a:t>Sezgisel ve Pekiştirmeli Öğrenme (PPO) Yaklaşımlarının Karşılaştırması</a:t>
            </a:r>
          </a:p>
          <a:p>
            <a:pPr algn="ctr"/>
            <a:r>
              <a:rPr sz="2400" b="0" i="0">
                <a:solidFill>
                  <a:srgbClr val="555555"/>
                </a:solidFill>
                <a:latin typeface="Times New Roman"/>
              </a:rPr>
              <a:t>[Ad Soyad — Öğrenci No]   ·   [e-posta]</a:t>
            </a:r>
          </a:p>
          <a:p>
            <a:pPr algn="ctr"/>
            <a:r>
              <a:rPr sz="2400" b="0" i="0">
                <a:solidFill>
                  <a:srgbClr val="555555"/>
                </a:solidFill>
                <a:latin typeface="Times New Roman"/>
              </a:rPr>
              <a:t>Danışman: [Unvan Ad Soyad]   ·   Bilgisayar Mühendisliği Bölümü</a:t>
            </a:r>
          </a:p>
        </p:txBody>
      </p:sp>
      <p:sp>
        <p:nvSpPr>
          <p:cNvPr id="4" name="TextBox 3"/>
          <p:cNvSpPr txBox="1"/>
          <p:nvPr/>
        </p:nvSpPr>
        <p:spPr>
          <a:xfrm>
            <a:off x="900000" y="5400000"/>
            <a:ext cx="11340000" cy="576000"/>
          </a:xfrm>
          <a:prstGeom prst="rect">
            <a:avLst/>
          </a:prstGeom>
          <a:noFill/>
        </p:spPr>
        <p:txBody>
          <a:bodyPr wrap="square" anchor="t">
            <a:spAutoFit/>
          </a:bodyPr>
          <a:lstStyle/>
          <a:p>
            <a:pPr algn="l"/>
            <a:r>
              <a:rPr sz="2500" b="1" i="0">
                <a:solidFill>
                  <a:srgbClr val="1F3A5F"/>
                </a:solidFill>
                <a:latin typeface="Times New Roman"/>
              </a:rPr>
              <a:t>Giriş ve Problem</a:t>
            </a:r>
          </a:p>
        </p:txBody>
      </p:sp>
      <p:sp>
        <p:nvSpPr>
          <p:cNvPr id="5" name="TextBox 4"/>
          <p:cNvSpPr txBox="1"/>
          <p:nvPr/>
        </p:nvSpPr>
        <p:spPr>
          <a:xfrm>
            <a:off x="900000" y="6083999"/>
            <a:ext cx="11340000" cy="3240000"/>
          </a:xfrm>
          <a:prstGeom prst="rect">
            <a:avLst/>
          </a:prstGeom>
          <a:noFill/>
        </p:spPr>
        <p:txBody>
          <a:bodyPr wrap="square" anchor="t">
            <a:spAutoFit/>
          </a:bodyPr>
          <a:lstStyle/>
          <a:p>
            <a:pPr algn="l"/>
            <a:r>
              <a:rPr sz="2000" b="0" i="0">
                <a:latin typeface="Times New Roman"/>
              </a:rPr>
              <a:t>Çelik fabrikalarında üretilen, her biri tonlarca ağırlığındaki bobinler önce bir depoya yerleştirilir, sonra kamyon, tren veya gemiye yüklenmek üzere alınır. Bobinler üst üste istiflenebildiği için, alınması gereken bir bobinin üstünde başka bir bobin varsa önce o kaldırılmalıdır — buna REHANDLING denir; gereksiz bir vinç hareketi, zaman ve enerji kaybıdır. Her hareket ayrıca bir VİNÇ YOLU (mesafe) doğurur. Bu proje, bobinleri en baştan akıllıca yerleştirerek bu iki maliyeti azaltmayı amaçlar.</a:t>
            </a:r>
          </a:p>
        </p:txBody>
      </p:sp>
      <p:sp>
        <p:nvSpPr>
          <p:cNvPr id="6" name="TextBox 5"/>
          <p:cNvSpPr txBox="1"/>
          <p:nvPr/>
        </p:nvSpPr>
        <p:spPr>
          <a:xfrm>
            <a:off x="900000" y="9504000"/>
            <a:ext cx="11340000" cy="576000"/>
          </a:xfrm>
          <a:prstGeom prst="rect">
            <a:avLst/>
          </a:prstGeom>
          <a:noFill/>
        </p:spPr>
        <p:txBody>
          <a:bodyPr wrap="square" anchor="t">
            <a:spAutoFit/>
          </a:bodyPr>
          <a:lstStyle/>
          <a:p>
            <a:pPr algn="l"/>
            <a:r>
              <a:rPr sz="2500" b="1" i="0">
                <a:solidFill>
                  <a:srgbClr val="1F3A5F"/>
                </a:solidFill>
                <a:latin typeface="Times New Roman"/>
              </a:rPr>
              <a:t>Geliştirilen Sistem: Dijital İkiz</a:t>
            </a:r>
          </a:p>
        </p:txBody>
      </p:sp>
      <p:sp>
        <p:nvSpPr>
          <p:cNvPr id="7" name="TextBox 6"/>
          <p:cNvSpPr txBox="1"/>
          <p:nvPr/>
        </p:nvSpPr>
        <p:spPr>
          <a:xfrm>
            <a:off x="900000" y="10187999"/>
            <a:ext cx="11340000" cy="4140000"/>
          </a:xfrm>
          <a:prstGeom prst="rect">
            <a:avLst/>
          </a:prstGeom>
          <a:noFill/>
        </p:spPr>
        <p:txBody>
          <a:bodyPr wrap="square" anchor="t">
            <a:spAutoFit/>
          </a:bodyPr>
          <a:lstStyle/>
          <a:p>
            <a:pPr algn="l"/>
            <a:r>
              <a:rPr sz="2000" b="0" i="0">
                <a:latin typeface="Times New Roman"/>
              </a:rPr>
              <a:t>Gerçek bir depoyu bilgisayarda canlandıran bir DİJİTAL İKİZ kurduk: 8 bölge × 36 sıra × 2 kat = 576 konum, tavan vinci, sürekli gelen bobinler ve değişen siparişler. Üzerine dört YERLEŞTİRME STRATEJİSİ takılıp canlı 3B panoda karşılaştırılabiliyor:</a:t>
            </a:r>
          </a:p>
          <a:p>
            <a:pPr algn="l"/>
            <a:r>
              <a:rPr sz="2000" b="0" i="0">
                <a:latin typeface="Times New Roman"/>
              </a:rPr>
              <a:t>•  Rastgele — kıyaslama tabanı</a:t>
            </a:r>
          </a:p>
          <a:p>
            <a:pPr algn="l"/>
            <a:r>
              <a:rPr sz="2000" b="0" i="0">
                <a:latin typeface="Times New Roman"/>
              </a:rPr>
              <a:t>•  Sezgisel — uzman kurallarıyla (aciliyet, kapıya yakınlık, istif düzeni)</a:t>
            </a:r>
          </a:p>
          <a:p>
            <a:pPr algn="l"/>
            <a:r>
              <a:rPr sz="2000" b="0" i="0">
                <a:latin typeface="Times New Roman"/>
              </a:rPr>
              <a:t>•  ML-Sezgisel — araç gecikmelerini tahmin eden makine öğrenmesi (LightGBM) ile</a:t>
            </a:r>
          </a:p>
          <a:p>
            <a:pPr algn="l"/>
            <a:r>
              <a:rPr sz="2000" b="0" i="0">
                <a:latin typeface="Times New Roman"/>
              </a:rPr>
              <a:t>•  PPO — deneme-yanılmayla KENDİ KENDİNE ÖĞRENEN pekiştirmeli öğrenme ajanı</a:t>
            </a:r>
          </a:p>
        </p:txBody>
      </p:sp>
      <p:sp>
        <p:nvSpPr>
          <p:cNvPr id="8" name="TextBox 7"/>
          <p:cNvSpPr txBox="1"/>
          <p:nvPr/>
        </p:nvSpPr>
        <p:spPr>
          <a:xfrm>
            <a:off x="900000" y="14507999"/>
            <a:ext cx="11340000" cy="576000"/>
          </a:xfrm>
          <a:prstGeom prst="rect">
            <a:avLst/>
          </a:prstGeom>
          <a:noFill/>
        </p:spPr>
        <p:txBody>
          <a:bodyPr wrap="square" anchor="t">
            <a:spAutoFit/>
          </a:bodyPr>
          <a:lstStyle/>
          <a:p>
            <a:pPr algn="l"/>
            <a:r>
              <a:rPr sz="2500" b="1" i="0">
                <a:solidFill>
                  <a:srgbClr val="1F3A5F"/>
                </a:solidFill>
                <a:latin typeface="Times New Roman"/>
              </a:rPr>
              <a:t>Geliştirilen 3B Pano</a:t>
            </a:r>
          </a:p>
        </p:txBody>
      </p:sp>
      <p:pic>
        <p:nvPicPr>
          <p:cNvPr id="9" name="Picture 8" descr="dash_main_ppo.png"/>
          <p:cNvPicPr>
            <a:picLocks noChangeAspect="1"/>
          </p:cNvPicPr>
          <p:nvPr/>
        </p:nvPicPr>
        <p:blipFill>
          <a:blip r:embed="rId2"/>
          <a:stretch>
            <a:fillRect/>
          </a:stretch>
        </p:blipFill>
        <p:spPr>
          <a:xfrm>
            <a:off x="1350000" y="15191999"/>
            <a:ext cx="10440000" cy="6536348"/>
          </a:xfrm>
          <a:prstGeom prst="rect">
            <a:avLst/>
          </a:prstGeom>
        </p:spPr>
      </p:pic>
      <p:sp>
        <p:nvSpPr>
          <p:cNvPr id="10" name="TextBox 9"/>
          <p:cNvSpPr txBox="1"/>
          <p:nvPr/>
        </p:nvSpPr>
        <p:spPr>
          <a:xfrm>
            <a:off x="900000" y="21836347"/>
            <a:ext cx="11340000" cy="324000"/>
          </a:xfrm>
          <a:prstGeom prst="rect">
            <a:avLst/>
          </a:prstGeom>
          <a:noFill/>
        </p:spPr>
        <p:txBody>
          <a:bodyPr wrap="square" anchor="t">
            <a:spAutoFit/>
          </a:bodyPr>
          <a:lstStyle/>
          <a:p>
            <a:pPr algn="ctr"/>
            <a:r>
              <a:rPr sz="1600" b="0" i="1">
                <a:solidFill>
                  <a:srgbClr val="555555"/>
                </a:solidFill>
                <a:latin typeface="Times New Roman"/>
              </a:rPr>
              <a:t>Şekil 1: Dijital ikizin canlı 3B görünümü. Her nokta bir bobin; renk aciliyeti gösterir (sarı = acil, mavi = bekleyebilir), yeşiller yükleme kapılarıdır.</a:t>
            </a:r>
          </a:p>
        </p:txBody>
      </p:sp>
      <p:sp>
        <p:nvSpPr>
          <p:cNvPr id="11" name="TextBox 10"/>
          <p:cNvSpPr txBox="1"/>
          <p:nvPr/>
        </p:nvSpPr>
        <p:spPr>
          <a:xfrm>
            <a:off x="900000" y="22232347"/>
            <a:ext cx="11340000" cy="576000"/>
          </a:xfrm>
          <a:prstGeom prst="rect">
            <a:avLst/>
          </a:prstGeom>
          <a:noFill/>
        </p:spPr>
        <p:txBody>
          <a:bodyPr wrap="square" anchor="t">
            <a:spAutoFit/>
          </a:bodyPr>
          <a:lstStyle/>
          <a:p>
            <a:pPr algn="l"/>
            <a:r>
              <a:rPr sz="2500" b="1" i="0">
                <a:solidFill>
                  <a:srgbClr val="1F3A5F"/>
                </a:solidFill>
                <a:latin typeface="Times New Roman"/>
              </a:rPr>
              <a:t>Yöntemleri Nasıl Değerlendirdik?</a:t>
            </a:r>
          </a:p>
        </p:txBody>
      </p:sp>
      <p:sp>
        <p:nvSpPr>
          <p:cNvPr id="12" name="TextBox 11"/>
          <p:cNvSpPr txBox="1"/>
          <p:nvPr/>
        </p:nvSpPr>
        <p:spPr>
          <a:xfrm>
            <a:off x="900000" y="22916347"/>
            <a:ext cx="11340000" cy="2880000"/>
          </a:xfrm>
          <a:prstGeom prst="rect">
            <a:avLst/>
          </a:prstGeom>
          <a:noFill/>
        </p:spPr>
        <p:txBody>
          <a:bodyPr wrap="square" anchor="t">
            <a:spAutoFit/>
          </a:bodyPr>
          <a:lstStyle/>
          <a:p>
            <a:pPr algn="l"/>
            <a:r>
              <a:rPr sz="2000" b="0" i="0">
                <a:latin typeface="Times New Roman"/>
              </a:rPr>
              <a:t>Dört yöntemi, daha önce HİÇ GÖRÜLMEMİŞ 30 depo senaryosunda, tıpatıp aynı koşullarda yarıştırdık (adil kıyaslama). Çalışma sırasında, öğrenen ajanın 'çok iyi' görünen iki sonucunun aslında yanıltıcı olduğunu fark edip düzelttik: önce EZBERLEME, sonra bazı kuralların GEVŞEMESİ. Bu öz-denetim, sonuçların güvenilir olmasını sağladı.</a:t>
            </a:r>
          </a:p>
        </p:txBody>
      </p:sp>
      <p:pic>
        <p:nvPicPr>
          <p:cNvPr id="13" name="Picture 12" descr="fig3_metodoloji.png"/>
          <p:cNvPicPr>
            <a:picLocks noChangeAspect="1"/>
          </p:cNvPicPr>
          <p:nvPr/>
        </p:nvPicPr>
        <p:blipFill>
          <a:blip r:embed="rId3"/>
          <a:stretch>
            <a:fillRect/>
          </a:stretch>
        </p:blipFill>
        <p:spPr>
          <a:xfrm>
            <a:off x="1350000" y="25976347"/>
            <a:ext cx="10440000" cy="6119704"/>
          </a:xfrm>
          <a:prstGeom prst="rect">
            <a:avLst/>
          </a:prstGeom>
        </p:spPr>
      </p:pic>
      <p:sp>
        <p:nvSpPr>
          <p:cNvPr id="14" name="TextBox 13"/>
          <p:cNvSpPr txBox="1"/>
          <p:nvPr/>
        </p:nvSpPr>
        <p:spPr>
          <a:xfrm>
            <a:off x="900000" y="32204051"/>
            <a:ext cx="11340000" cy="324000"/>
          </a:xfrm>
          <a:prstGeom prst="rect">
            <a:avLst/>
          </a:prstGeom>
          <a:noFill/>
        </p:spPr>
        <p:txBody>
          <a:bodyPr wrap="square" anchor="t">
            <a:spAutoFit/>
          </a:bodyPr>
          <a:lstStyle/>
          <a:p>
            <a:pPr algn="ctr"/>
            <a:r>
              <a:rPr sz="1600" b="0" i="1">
                <a:solidFill>
                  <a:srgbClr val="555555"/>
                </a:solidFill>
                <a:latin typeface="Times New Roman"/>
              </a:rPr>
              <a:t>Şekil 2: Öğrenen ajanın gerçek başarısını bulmak için yapılan iki düzeltme.</a:t>
            </a:r>
          </a:p>
        </p:txBody>
      </p:sp>
      <p:sp>
        <p:nvSpPr>
          <p:cNvPr id="15" name="TextBox 14"/>
          <p:cNvSpPr txBox="1"/>
          <p:nvPr/>
        </p:nvSpPr>
        <p:spPr>
          <a:xfrm>
            <a:off x="12960000" y="5400000"/>
            <a:ext cx="11340000" cy="576000"/>
          </a:xfrm>
          <a:prstGeom prst="rect">
            <a:avLst/>
          </a:prstGeom>
          <a:noFill/>
        </p:spPr>
        <p:txBody>
          <a:bodyPr wrap="square" anchor="t">
            <a:spAutoFit/>
          </a:bodyPr>
          <a:lstStyle/>
          <a:p>
            <a:pPr algn="l"/>
            <a:r>
              <a:rPr sz="2500" b="1" i="0">
                <a:solidFill>
                  <a:srgbClr val="1F3A5F"/>
                </a:solidFill>
                <a:latin typeface="Times New Roman"/>
              </a:rPr>
              <a:t>Bulgular: İki Çalışma Koşulu</a:t>
            </a:r>
          </a:p>
        </p:txBody>
      </p:sp>
      <p:sp>
        <p:nvSpPr>
          <p:cNvPr id="16" name="TextBox 15"/>
          <p:cNvSpPr txBox="1"/>
          <p:nvPr/>
        </p:nvSpPr>
        <p:spPr>
          <a:xfrm>
            <a:off x="12960000" y="6083999"/>
            <a:ext cx="11340000" cy="900000"/>
          </a:xfrm>
          <a:prstGeom prst="rect">
            <a:avLst/>
          </a:prstGeom>
          <a:noFill/>
        </p:spPr>
        <p:txBody>
          <a:bodyPr wrap="square" anchor="t">
            <a:spAutoFit/>
          </a:bodyPr>
          <a:lstStyle/>
          <a:p>
            <a:pPr algn="l"/>
            <a:r>
              <a:rPr sz="2000" b="0" i="0">
                <a:latin typeface="Times New Roman"/>
              </a:rPr>
              <a:t>Sistemi iki farklı koşulda inceledik; her birinde dört yöntem de aynı ortamda çalıştı.</a:t>
            </a:r>
          </a:p>
        </p:txBody>
      </p:sp>
      <p:sp>
        <p:nvSpPr>
          <p:cNvPr id="17" name="TextBox 16"/>
          <p:cNvSpPr txBox="1"/>
          <p:nvPr/>
        </p:nvSpPr>
        <p:spPr>
          <a:xfrm>
            <a:off x="12960000" y="7163999"/>
            <a:ext cx="11340000" cy="1800000"/>
          </a:xfrm>
          <a:prstGeom prst="rect">
            <a:avLst/>
          </a:prstGeom>
          <a:noFill/>
        </p:spPr>
        <p:txBody>
          <a:bodyPr wrap="square" anchor="t">
            <a:spAutoFit/>
          </a:bodyPr>
          <a:lstStyle/>
          <a:p>
            <a:pPr algn="l"/>
            <a:r>
              <a:rPr sz="2000" b="0" i="0">
                <a:latin typeface="Times New Roman"/>
              </a:rPr>
              <a:t>(A) GERÇEKÇİ DEPO — iki katlı istif ve her bobinin belirli bölgelere ait olduğu kurallar. Bu koşulda uzman-kuralı (sezgisel) yöntemler, en az rehandling ve en kısa vinç yolunu veren kararlı çözümlerdir.</a:t>
            </a:r>
          </a:p>
        </p:txBody>
      </p:sp>
      <p:graphicFrame>
        <p:nvGraphicFramePr>
          <p:cNvPr id="18" name="Table 17"/>
          <p:cNvGraphicFramePr>
            <a:graphicFrameLocks noGrp="1"/>
          </p:cNvGraphicFramePr>
          <p:nvPr/>
        </p:nvGraphicFramePr>
        <p:xfrm>
          <a:off x="12960000" y="9144000"/>
          <a:ext cx="12240000" cy="2250000"/>
        </p:xfrm>
        <a:graphic>
          <a:graphicData uri="http://schemas.openxmlformats.org/drawingml/2006/table">
            <a:tbl>
              <a:tblPr firstRow="1" bandRow="1">
                <a:tableStyleId>{5C22544A-7EE6-4342-B048-85BDC9FD1C3A}</a:tableStyleId>
              </a:tblPr>
              <a:tblGrid>
                <a:gridCol w="4860000"/>
                <a:gridCol w="3420000"/>
                <a:gridCol w="3960000"/>
              </a:tblGrid>
              <a:tr h="450000">
                <a:tc>
                  <a:txBody>
                    <a:bodyPr/>
                    <a:lstStyle/>
                    <a:p>
                      <a:pPr algn="l"/>
                      <a:r>
                        <a:rPr sz="1800" b="1" i="0">
                          <a:solidFill>
                            <a:srgbClr val="FFFFFF"/>
                          </a:solidFill>
                          <a:latin typeface="Times New Roman"/>
                        </a:rPr>
                        <a:t>Yöntem</a:t>
                      </a:r>
                    </a:p>
                  </a:txBody>
                  <a:tcPr anchor="ctr">
                    <a:solidFill>
                      <a:srgbClr val="1F3A5F"/>
                    </a:solidFill>
                  </a:tcPr>
                </a:tc>
                <a:tc>
                  <a:txBody>
                    <a:bodyPr/>
                    <a:lstStyle/>
                    <a:p>
                      <a:pPr algn="ctr"/>
                      <a:r>
                        <a:rPr sz="1800" b="1" i="0">
                          <a:solidFill>
                            <a:srgbClr val="FFFFFF"/>
                          </a:solidFill>
                          <a:latin typeface="Times New Roman"/>
                        </a:rPr>
                        <a:t>Rehandling</a:t>
                      </a:r>
                    </a:p>
                  </a:txBody>
                  <a:tcPr anchor="ctr">
                    <a:solidFill>
                      <a:srgbClr val="1F3A5F"/>
                    </a:solidFill>
                  </a:tcPr>
                </a:tc>
                <a:tc>
                  <a:txBody>
                    <a:bodyPr/>
                    <a:lstStyle/>
                    <a:p>
                      <a:pPr algn="ctr"/>
                      <a:r>
                        <a:rPr sz="1800" b="1" i="0">
                          <a:solidFill>
                            <a:srgbClr val="FFFFFF"/>
                          </a:solidFill>
                          <a:latin typeface="Times New Roman"/>
                        </a:rPr>
                        <a:t>Vinç yolu (m)</a:t>
                      </a:r>
                    </a:p>
                  </a:txBody>
                  <a:tcPr anchor="ctr">
                    <a:solidFill>
                      <a:srgbClr val="1F3A5F"/>
                    </a:solidFill>
                  </a:tcPr>
                </a:tc>
              </a:tr>
              <a:tr h="450000">
                <a:tc>
                  <a:txBody>
                    <a:bodyPr/>
                    <a:lstStyle/>
                    <a:p>
                      <a:pPr algn="l"/>
                      <a:r>
                        <a:rPr sz="1800" b="0" i="0">
                          <a:latin typeface="Times New Roman"/>
                        </a:rPr>
                        <a:t>Rastgele</a:t>
                      </a:r>
                    </a:p>
                  </a:txBody>
                  <a:tcPr anchor="ctr">
                    <a:solidFill>
                      <a:srgbClr val="F7F7F7"/>
                    </a:solidFill>
                  </a:tcPr>
                </a:tc>
                <a:tc>
                  <a:txBody>
                    <a:bodyPr/>
                    <a:lstStyle/>
                    <a:p>
                      <a:pPr algn="ctr"/>
                      <a:r>
                        <a:rPr sz="1800" b="0" i="0">
                          <a:latin typeface="Times New Roman"/>
                        </a:rPr>
                        <a:t>33.1</a:t>
                      </a:r>
                    </a:p>
                  </a:txBody>
                  <a:tcPr anchor="ctr">
                    <a:solidFill>
                      <a:srgbClr val="F7F7F7"/>
                    </a:solidFill>
                  </a:tcPr>
                </a:tc>
                <a:tc>
                  <a:txBody>
                    <a:bodyPr/>
                    <a:lstStyle/>
                    <a:p>
                      <a:pPr algn="ctr"/>
                      <a:r>
                        <a:rPr sz="1800" b="0" i="0">
                          <a:latin typeface="Times New Roman"/>
                        </a:rPr>
                        <a:t>40 717</a:t>
                      </a:r>
                    </a:p>
                  </a:txBody>
                  <a:tcPr anchor="ctr">
                    <a:solidFill>
                      <a:srgbClr val="F7F7F7"/>
                    </a:solidFill>
                  </a:tcPr>
                </a:tc>
              </a:tr>
              <a:tr h="450000">
                <a:tc>
                  <a:txBody>
                    <a:bodyPr/>
                    <a:lstStyle/>
                    <a:p>
                      <a:pPr algn="l"/>
                      <a:r>
                        <a:rPr sz="1800" b="0" i="0">
                          <a:latin typeface="Times New Roman"/>
                        </a:rPr>
                        <a:t>ML-Sezgisel</a:t>
                      </a:r>
                    </a:p>
                  </a:txBody>
                  <a:tcPr anchor="ctr">
                    <a:solidFill>
                      <a:srgbClr val="F7F7F7"/>
                    </a:solidFill>
                  </a:tcPr>
                </a:tc>
                <a:tc>
                  <a:txBody>
                    <a:bodyPr/>
                    <a:lstStyle/>
                    <a:p>
                      <a:pPr algn="ctr"/>
                      <a:r>
                        <a:rPr sz="1800" b="0" i="0">
                          <a:latin typeface="Times New Roman"/>
                        </a:rPr>
                        <a:t>8.3</a:t>
                      </a:r>
                    </a:p>
                  </a:txBody>
                  <a:tcPr anchor="ctr">
                    <a:solidFill>
                      <a:srgbClr val="F7F7F7"/>
                    </a:solidFill>
                  </a:tcPr>
                </a:tc>
                <a:tc>
                  <a:txBody>
                    <a:bodyPr/>
                    <a:lstStyle/>
                    <a:p>
                      <a:pPr algn="ctr"/>
                      <a:r>
                        <a:rPr sz="1800" b="0" i="0">
                          <a:latin typeface="Times New Roman"/>
                        </a:rPr>
                        <a:t>29 806</a:t>
                      </a:r>
                    </a:p>
                  </a:txBody>
                  <a:tcPr anchor="ctr">
                    <a:solidFill>
                      <a:srgbClr val="F7F7F7"/>
                    </a:solidFill>
                  </a:tcPr>
                </a:tc>
              </a:tr>
              <a:tr h="450000">
                <a:tc>
                  <a:txBody>
                    <a:bodyPr/>
                    <a:lstStyle/>
                    <a:p>
                      <a:pPr algn="l"/>
                      <a:r>
                        <a:rPr sz="1800" b="1" i="0">
                          <a:latin typeface="Times New Roman"/>
                        </a:rPr>
                        <a:t>Sezgisel</a:t>
                      </a:r>
                    </a:p>
                  </a:txBody>
                  <a:tcPr anchor="ctr">
                    <a:solidFill>
                      <a:srgbClr val="EAF6EE"/>
                    </a:solidFill>
                  </a:tcPr>
                </a:tc>
                <a:tc>
                  <a:txBody>
                    <a:bodyPr/>
                    <a:lstStyle/>
                    <a:p>
                      <a:pPr algn="ctr"/>
                      <a:r>
                        <a:rPr sz="1800" b="1" i="0">
                          <a:latin typeface="Times New Roman"/>
                        </a:rPr>
                        <a:t>8.6</a:t>
                      </a:r>
                    </a:p>
                  </a:txBody>
                  <a:tcPr anchor="ctr">
                    <a:solidFill>
                      <a:srgbClr val="EAF6EE"/>
                    </a:solidFill>
                  </a:tcPr>
                </a:tc>
                <a:tc>
                  <a:txBody>
                    <a:bodyPr/>
                    <a:lstStyle/>
                    <a:p>
                      <a:pPr algn="ctr"/>
                      <a:r>
                        <a:rPr sz="1800" b="1" i="0">
                          <a:latin typeface="Times New Roman"/>
                        </a:rPr>
                        <a:t>26 525</a:t>
                      </a:r>
                    </a:p>
                  </a:txBody>
                  <a:tcPr anchor="ctr">
                    <a:solidFill>
                      <a:srgbClr val="EAF6EE"/>
                    </a:solidFill>
                  </a:tcPr>
                </a:tc>
              </a:tr>
              <a:tr h="450000">
                <a:tc>
                  <a:txBody>
                    <a:bodyPr/>
                    <a:lstStyle/>
                    <a:p>
                      <a:pPr algn="l"/>
                      <a:r>
                        <a:rPr sz="1800" b="0" i="0">
                          <a:latin typeface="Times New Roman"/>
                        </a:rPr>
                        <a:t>PPO (öğrenen)</a:t>
                      </a:r>
                    </a:p>
                  </a:txBody>
                  <a:tcPr anchor="ctr">
                    <a:solidFill>
                      <a:srgbClr val="F7F7F7"/>
                    </a:solidFill>
                  </a:tcPr>
                </a:tc>
                <a:tc>
                  <a:txBody>
                    <a:bodyPr/>
                    <a:lstStyle/>
                    <a:p>
                      <a:pPr algn="ctr"/>
                      <a:r>
                        <a:rPr sz="1800" b="0" i="0">
                          <a:latin typeface="Times New Roman"/>
                        </a:rPr>
                        <a:t>10.4</a:t>
                      </a:r>
                    </a:p>
                  </a:txBody>
                  <a:tcPr anchor="ctr">
                    <a:solidFill>
                      <a:srgbClr val="F7F7F7"/>
                    </a:solidFill>
                  </a:tcPr>
                </a:tc>
                <a:tc>
                  <a:txBody>
                    <a:bodyPr/>
                    <a:lstStyle/>
                    <a:p>
                      <a:pPr algn="ctr"/>
                      <a:r>
                        <a:rPr sz="1800" b="0" i="0">
                          <a:latin typeface="Times New Roman"/>
                        </a:rPr>
                        <a:t>35 675</a:t>
                      </a:r>
                    </a:p>
                  </a:txBody>
                  <a:tcPr anchor="ctr">
                    <a:solidFill>
                      <a:srgbClr val="F7F7F7"/>
                    </a:solidFill>
                  </a:tcPr>
                </a:tc>
              </a:tr>
            </a:tbl>
          </a:graphicData>
        </a:graphic>
      </p:graphicFrame>
      <p:sp>
        <p:nvSpPr>
          <p:cNvPr id="19" name="TextBox 18"/>
          <p:cNvSpPr txBox="1"/>
          <p:nvPr/>
        </p:nvSpPr>
        <p:spPr>
          <a:xfrm>
            <a:off x="12960000" y="11610000"/>
            <a:ext cx="11340000" cy="324000"/>
          </a:xfrm>
          <a:prstGeom prst="rect">
            <a:avLst/>
          </a:prstGeom>
          <a:noFill/>
        </p:spPr>
        <p:txBody>
          <a:bodyPr wrap="square" anchor="t">
            <a:spAutoFit/>
          </a:bodyPr>
          <a:lstStyle/>
          <a:p>
            <a:pPr algn="ctr"/>
            <a:r>
              <a:rPr sz="1600" b="0" i="1">
                <a:solidFill>
                  <a:srgbClr val="555555"/>
                </a:solidFill>
                <a:latin typeface="Times New Roman"/>
              </a:rPr>
              <a:t>Çizelge 1: Gerçekçi depoda 30 senaryo ortalaması (düşük = iyi).</a:t>
            </a:r>
          </a:p>
        </p:txBody>
      </p:sp>
      <p:sp>
        <p:nvSpPr>
          <p:cNvPr id="20" name="TextBox 19"/>
          <p:cNvSpPr txBox="1"/>
          <p:nvPr/>
        </p:nvSpPr>
        <p:spPr>
          <a:xfrm>
            <a:off x="12960000" y="12006000"/>
            <a:ext cx="11340000" cy="1440000"/>
          </a:xfrm>
          <a:prstGeom prst="rect">
            <a:avLst/>
          </a:prstGeom>
          <a:noFill/>
        </p:spPr>
        <p:txBody>
          <a:bodyPr wrap="square" anchor="t">
            <a:spAutoFit/>
          </a:bodyPr>
          <a:lstStyle/>
          <a:p>
            <a:pPr algn="l"/>
            <a:r>
              <a:rPr sz="2000" b="0" i="0">
                <a:latin typeface="Times New Roman"/>
              </a:rPr>
              <a:t>Öğrenen ajanın ilginç bir davranışı: depo AZ DOLUYKEN en az rehandling üreten yöntem oldu; depo dolduğunda ise hızla zorlandı. Yani gücü yük seviyesine bağlı.</a:t>
            </a:r>
          </a:p>
        </p:txBody>
      </p:sp>
      <p:pic>
        <p:nvPicPr>
          <p:cNvPr id="21" name="Picture 20" descr="fig4_yuk_taramasi.png"/>
          <p:cNvPicPr>
            <a:picLocks noChangeAspect="1"/>
          </p:cNvPicPr>
          <p:nvPr/>
        </p:nvPicPr>
        <p:blipFill>
          <a:blip r:embed="rId4"/>
          <a:stretch>
            <a:fillRect/>
          </a:stretch>
        </p:blipFill>
        <p:spPr>
          <a:xfrm>
            <a:off x="13050000" y="13626000"/>
            <a:ext cx="11160000" cy="4431453"/>
          </a:xfrm>
          <a:prstGeom prst="rect">
            <a:avLst/>
          </a:prstGeom>
        </p:spPr>
      </p:pic>
      <p:sp>
        <p:nvSpPr>
          <p:cNvPr id="22" name="TextBox 21"/>
          <p:cNvSpPr txBox="1"/>
          <p:nvPr/>
        </p:nvSpPr>
        <p:spPr>
          <a:xfrm>
            <a:off x="12960000" y="18165452"/>
            <a:ext cx="11340000" cy="324000"/>
          </a:xfrm>
          <a:prstGeom prst="rect">
            <a:avLst/>
          </a:prstGeom>
          <a:noFill/>
        </p:spPr>
        <p:txBody>
          <a:bodyPr wrap="square" anchor="t">
            <a:spAutoFit/>
          </a:bodyPr>
          <a:lstStyle/>
          <a:p>
            <a:pPr algn="ctr"/>
            <a:r>
              <a:rPr sz="1600" b="0" i="1">
                <a:solidFill>
                  <a:srgbClr val="555555"/>
                </a:solidFill>
                <a:latin typeface="Times New Roman"/>
              </a:rPr>
              <a:t>Şekil 3: Doluluk arttıkça yöntemlerin davranışı.</a:t>
            </a:r>
          </a:p>
        </p:txBody>
      </p:sp>
      <p:sp>
        <p:nvSpPr>
          <p:cNvPr id="23" name="TextBox 22"/>
          <p:cNvSpPr txBox="1"/>
          <p:nvPr/>
        </p:nvSpPr>
        <p:spPr>
          <a:xfrm>
            <a:off x="12960000" y="18561452"/>
            <a:ext cx="11340000" cy="1800000"/>
          </a:xfrm>
          <a:prstGeom prst="rect">
            <a:avLst/>
          </a:prstGeom>
          <a:noFill/>
        </p:spPr>
        <p:txBody>
          <a:bodyPr wrap="square" anchor="t">
            <a:spAutoFit/>
          </a:bodyPr>
          <a:lstStyle/>
          <a:p>
            <a:pPr algn="l"/>
            <a:r>
              <a:rPr sz="2000" b="0" i="0">
                <a:latin typeface="Times New Roman"/>
              </a:rPr>
              <a:t>(B) SAF ROTA PROBLEMİ — tek katlı ve kısıtsız; tek amaç vinç yolunu kısaltmak. Bu, öğrenmenin doğal olarak güçlü olduğu koşuldur; öğrenen ajan burada uzman-kuralı yöntemden daha kısa vinç yolu buldu (30 senaryonun 27'sinde).</a:t>
            </a:r>
          </a:p>
        </p:txBody>
      </p:sp>
      <p:graphicFrame>
        <p:nvGraphicFramePr>
          <p:cNvPr id="24" name="Table 23"/>
          <p:cNvGraphicFramePr>
            <a:graphicFrameLocks noGrp="1"/>
          </p:cNvGraphicFramePr>
          <p:nvPr/>
        </p:nvGraphicFramePr>
        <p:xfrm>
          <a:off x="12960000" y="20541452"/>
          <a:ext cx="11160000" cy="1800000"/>
        </p:xfrm>
        <a:graphic>
          <a:graphicData uri="http://schemas.openxmlformats.org/drawingml/2006/table">
            <a:tbl>
              <a:tblPr firstRow="1" bandRow="1">
                <a:tableStyleId>{5C22544A-7EE6-4342-B048-85BDC9FD1C3A}</a:tableStyleId>
              </a:tblPr>
              <a:tblGrid>
                <a:gridCol w="5760000"/>
                <a:gridCol w="5400000"/>
              </a:tblGrid>
              <a:tr h="450000">
                <a:tc>
                  <a:txBody>
                    <a:bodyPr/>
                    <a:lstStyle/>
                    <a:p>
                      <a:pPr algn="l"/>
                      <a:r>
                        <a:rPr sz="1800" b="1" i="0">
                          <a:solidFill>
                            <a:srgbClr val="FFFFFF"/>
                          </a:solidFill>
                          <a:latin typeface="Times New Roman"/>
                        </a:rPr>
                        <a:t>Yöntem</a:t>
                      </a:r>
                    </a:p>
                  </a:txBody>
                  <a:tcPr anchor="ctr">
                    <a:solidFill>
                      <a:srgbClr val="1F3A5F"/>
                    </a:solidFill>
                  </a:tcPr>
                </a:tc>
                <a:tc>
                  <a:txBody>
                    <a:bodyPr/>
                    <a:lstStyle/>
                    <a:p>
                      <a:pPr algn="ctr"/>
                      <a:r>
                        <a:rPr sz="1800" b="1" i="0">
                          <a:solidFill>
                            <a:srgbClr val="FFFFFF"/>
                          </a:solidFill>
                          <a:latin typeface="Times New Roman"/>
                        </a:rPr>
                        <a:t>Vinç yolu (m)</a:t>
                      </a:r>
                    </a:p>
                  </a:txBody>
                  <a:tcPr anchor="ctr">
                    <a:solidFill>
                      <a:srgbClr val="1F3A5F"/>
                    </a:solidFill>
                  </a:tcPr>
                </a:tc>
              </a:tr>
              <a:tr h="450000">
                <a:tc>
                  <a:txBody>
                    <a:bodyPr/>
                    <a:lstStyle/>
                    <a:p>
                      <a:pPr algn="l"/>
                      <a:r>
                        <a:rPr sz="1800" b="0" i="0">
                          <a:latin typeface="Times New Roman"/>
                        </a:rPr>
                        <a:t>Rastgele</a:t>
                      </a:r>
                    </a:p>
                  </a:txBody>
                  <a:tcPr anchor="ctr">
                    <a:solidFill>
                      <a:srgbClr val="F7F7F7"/>
                    </a:solidFill>
                  </a:tcPr>
                </a:tc>
                <a:tc>
                  <a:txBody>
                    <a:bodyPr/>
                    <a:lstStyle/>
                    <a:p>
                      <a:pPr algn="ctr"/>
                      <a:r>
                        <a:rPr sz="1800" b="0" i="0">
                          <a:latin typeface="Times New Roman"/>
                        </a:rPr>
                        <a:t>39 621</a:t>
                      </a:r>
                    </a:p>
                  </a:txBody>
                  <a:tcPr anchor="ctr">
                    <a:solidFill>
                      <a:srgbClr val="F7F7F7"/>
                    </a:solidFill>
                  </a:tcPr>
                </a:tc>
              </a:tr>
              <a:tr h="450000">
                <a:tc>
                  <a:txBody>
                    <a:bodyPr/>
                    <a:lstStyle/>
                    <a:p>
                      <a:pPr algn="l"/>
                      <a:r>
                        <a:rPr sz="1800" b="0" i="0">
                          <a:latin typeface="Times New Roman"/>
                        </a:rPr>
                        <a:t>Sezgisel</a:t>
                      </a:r>
                    </a:p>
                  </a:txBody>
                  <a:tcPr anchor="ctr">
                    <a:solidFill>
                      <a:srgbClr val="F7F7F7"/>
                    </a:solidFill>
                  </a:tcPr>
                </a:tc>
                <a:tc>
                  <a:txBody>
                    <a:bodyPr/>
                    <a:lstStyle/>
                    <a:p>
                      <a:pPr algn="ctr"/>
                      <a:r>
                        <a:rPr sz="1800" b="0" i="0">
                          <a:latin typeface="Times New Roman"/>
                        </a:rPr>
                        <a:t>28 143</a:t>
                      </a:r>
                    </a:p>
                  </a:txBody>
                  <a:tcPr anchor="ctr">
                    <a:solidFill>
                      <a:srgbClr val="F7F7F7"/>
                    </a:solidFill>
                  </a:tcPr>
                </a:tc>
              </a:tr>
              <a:tr h="450000">
                <a:tc>
                  <a:txBody>
                    <a:bodyPr/>
                    <a:lstStyle/>
                    <a:p>
                      <a:pPr algn="l"/>
                      <a:r>
                        <a:rPr sz="1800" b="1" i="0">
                          <a:latin typeface="Times New Roman"/>
                        </a:rPr>
                        <a:t>PPO (öğrenen)</a:t>
                      </a:r>
                    </a:p>
                  </a:txBody>
                  <a:tcPr anchor="ctr">
                    <a:solidFill>
                      <a:srgbClr val="EAF6EE"/>
                    </a:solidFill>
                  </a:tcPr>
                </a:tc>
                <a:tc>
                  <a:txBody>
                    <a:bodyPr/>
                    <a:lstStyle/>
                    <a:p>
                      <a:pPr algn="ctr"/>
                      <a:r>
                        <a:rPr sz="1800" b="1" i="0">
                          <a:latin typeface="Times New Roman"/>
                        </a:rPr>
                        <a:t>26 650</a:t>
                      </a:r>
                    </a:p>
                  </a:txBody>
                  <a:tcPr anchor="ctr">
                    <a:solidFill>
                      <a:srgbClr val="EAF6EE"/>
                    </a:solidFill>
                  </a:tcPr>
                </a:tc>
              </a:tr>
            </a:tbl>
          </a:graphicData>
        </a:graphic>
      </p:graphicFrame>
      <p:sp>
        <p:nvSpPr>
          <p:cNvPr id="25" name="TextBox 24"/>
          <p:cNvSpPr txBox="1"/>
          <p:nvPr/>
        </p:nvSpPr>
        <p:spPr>
          <a:xfrm>
            <a:off x="12960000" y="22557452"/>
            <a:ext cx="11340000" cy="324000"/>
          </a:xfrm>
          <a:prstGeom prst="rect">
            <a:avLst/>
          </a:prstGeom>
          <a:noFill/>
        </p:spPr>
        <p:txBody>
          <a:bodyPr wrap="square" anchor="t">
            <a:spAutoFit/>
          </a:bodyPr>
          <a:lstStyle/>
          <a:p>
            <a:pPr algn="ctr"/>
            <a:r>
              <a:rPr sz="1600" b="0" i="1">
                <a:solidFill>
                  <a:srgbClr val="555555"/>
                </a:solidFill>
                <a:latin typeface="Times New Roman"/>
              </a:rPr>
              <a:t>Çizelge 2: Saf rota probleminde öğrenen ajan en kısa vinç yolunu bulur (p&lt;0.001).</a:t>
            </a:r>
          </a:p>
        </p:txBody>
      </p:sp>
      <p:sp>
        <p:nvSpPr>
          <p:cNvPr id="26" name="TextBox 25"/>
          <p:cNvSpPr txBox="1"/>
          <p:nvPr/>
        </p:nvSpPr>
        <p:spPr>
          <a:xfrm>
            <a:off x="12960000" y="22953452"/>
            <a:ext cx="11340000" cy="576000"/>
          </a:xfrm>
          <a:prstGeom prst="rect">
            <a:avLst/>
          </a:prstGeom>
          <a:noFill/>
        </p:spPr>
        <p:txBody>
          <a:bodyPr wrap="square" anchor="t">
            <a:spAutoFit/>
          </a:bodyPr>
          <a:lstStyle/>
          <a:p>
            <a:pPr algn="l"/>
            <a:r>
              <a:rPr sz="2500" b="1" i="0">
                <a:solidFill>
                  <a:srgbClr val="1F3A5F"/>
                </a:solidFill>
                <a:latin typeface="Times New Roman"/>
              </a:rPr>
              <a:t>Sonuç</a:t>
            </a:r>
          </a:p>
        </p:txBody>
      </p:sp>
      <p:sp>
        <p:nvSpPr>
          <p:cNvPr id="27" name="TextBox 26"/>
          <p:cNvSpPr txBox="1"/>
          <p:nvPr/>
        </p:nvSpPr>
        <p:spPr>
          <a:xfrm>
            <a:off x="12960000" y="23637452"/>
            <a:ext cx="11340000" cy="3600000"/>
          </a:xfrm>
          <a:prstGeom prst="rect">
            <a:avLst/>
          </a:prstGeom>
          <a:noFill/>
        </p:spPr>
        <p:txBody>
          <a:bodyPr wrap="square" anchor="t">
            <a:spAutoFit/>
          </a:bodyPr>
          <a:lstStyle/>
          <a:p>
            <a:pPr algn="l"/>
            <a:r>
              <a:rPr sz="2000" b="0" i="0">
                <a:latin typeface="Times New Roman"/>
              </a:rPr>
              <a:t>Tek bir 'en iyi yöntem' yoktur; doğru yöntem PROBLEMİN YAPISINA göre değişir. Gerçekçi kısıtlı depoda uzman-kuralı yöntem güvenli ve kararlıdır; saf rota optimizasyonunda öğrenen ajan avantaj sağlar. Geliştirilen sistem her iki yöntemi de aynı arayüzde sunar ve canlı 3B panoda izlenir — gerçek bir tesiste karar desteği için kullanılabilir.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